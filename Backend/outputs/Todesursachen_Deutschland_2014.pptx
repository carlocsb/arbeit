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Todesfälle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A8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9E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5F6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14E5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23D4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22C3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11B22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Kreislaufsystem</c:v>
                  </c:pt>
                  <c:pt idx="1">
                    <c:v>Neubildungen</c:v>
                  </c:pt>
                  <c:pt idx="2">
                    <c:v>Atmungssystem</c:v>
                  </c:pt>
                  <c:pt idx="3">
                    <c:v>Verdauungssystem</c:v>
                  </c:pt>
                  <c:pt idx="4">
                    <c:v>Psych. Störungen</c:v>
                  </c:pt>
                  <c:pt idx="5">
                    <c:v>Äußere Ursachen</c:v>
                  </c:pt>
                  <c:pt idx="6">
                    <c:v>Endokrin / Stoffwechsel</c:v>
                  </c:pt>
                  <c:pt idx="7">
                    <c:v>Nervensystem</c:v>
                  </c:pt>
                  <c:pt idx="8">
                    <c:v>Urogenitalsystem</c:v>
                  </c:pt>
                  <c:pt idx="9">
                    <c:v>Infektionskrankheiten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318118</c:v>
                </c:pt>
                <c:pt idx="1">
                  <c:v>212702</c:v>
                </c:pt>
                <c:pt idx="2">
                  <c:v>54816</c:v>
                </c:pt>
                <c:pt idx="3">
                  <c:v>36016</c:v>
                </c:pt>
                <c:pt idx="4">
                  <c:v>34321</c:v>
                </c:pt>
                <c:pt idx="5">
                  <c:v>33180</c:v>
                </c:pt>
                <c:pt idx="6">
                  <c:v>27012</c:v>
                </c:pt>
                <c:pt idx="7">
                  <c:v>23839</c:v>
                </c:pt>
                <c:pt idx="8">
                  <c:v>20769</c:v>
                </c:pt>
                <c:pt idx="9">
                  <c:v>16580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Anteil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B5E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F4A261"/>
              </a:solidFill>
              <a:effectLst/>
            </c:spPr>
          </c:dPt>
          <c:dPt>
            <c:idx val="4"/>
            <c:bubble3D val="0"/>
            <c:spPr>
              <a:solidFill>
                <a:srgbClr val="E8634A"/>
              </a:solidFill>
              <a:effectLst/>
            </c:spPr>
          </c:dPt>
          <c:dPt>
            <c:idx val="5"/>
            <c:bubble3D val="0"/>
            <c:spPr>
              <a:solidFill>
                <a:srgbClr val="A8DADC"/>
              </a:solidFill>
              <a:effectLst/>
            </c:spPr>
          </c:dPt>
          <c:dPt>
            <c:idx val="6"/>
            <c:bubble3D val="0"/>
            <c:spPr>
              <a:solidFill>
                <a:srgbClr val="4472C4"/>
              </a:solidFill>
              <a:effectLst/>
            </c:spPr>
          </c:dPt>
          <c:dPt>
            <c:idx val="7"/>
            <c:bubble3D val="0"/>
            <c:spPr>
              <a:solidFill>
                <a:srgbClr val="7FB3C8"/>
              </a:solidFill>
              <a:effectLst/>
            </c:spPr>
          </c:dPt>
          <c:dPt>
            <c:idx val="8"/>
            <c:bubble3D val="0"/>
            <c:spPr>
              <a:solidFill>
                <a:srgbClr val="B0C4D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Kreislaufsystem</c:v>
                </c:pt>
                <c:pt idx="1">
                  <c:v>Neubildungen</c:v>
                </c:pt>
                <c:pt idx="2">
                  <c:v>Atmungssystem</c:v>
                </c:pt>
                <c:pt idx="3">
                  <c:v>Verdauungssystem</c:v>
                </c:pt>
                <c:pt idx="4">
                  <c:v>Psych. Störungen</c:v>
                </c:pt>
                <c:pt idx="5">
                  <c:v>Äußere Ursachen</c:v>
                </c:pt>
                <c:pt idx="6">
                  <c:v>Stoffwechsel</c:v>
                </c:pt>
                <c:pt idx="7">
                  <c:v>Nervensystem</c:v>
                </c:pt>
                <c:pt idx="8">
                  <c:v>Sonstige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318118</c:v>
                </c:pt>
                <c:pt idx="1">
                  <c:v>212702</c:v>
                </c:pt>
                <c:pt idx="2">
                  <c:v>54816</c:v>
                </c:pt>
                <c:pt idx="3">
                  <c:v>36016</c:v>
                </c:pt>
                <c:pt idx="4">
                  <c:v>34321</c:v>
                </c:pt>
                <c:pt idx="5">
                  <c:v>33180</c:v>
                </c:pt>
                <c:pt idx="6">
                  <c:v>27012</c:v>
                </c:pt>
                <c:pt idx="7">
                  <c:v>23839</c:v>
                </c:pt>
                <c:pt idx="8">
                  <c:v>37464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0F6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Kreislaufsystem</c:v>
                </c:pt>
              </c:strCache>
            </c:strRef>
          </c:tx>
          <c:spPr>
            <a:solidFill>
              <a:srgbClr val="1B2B5E"/>
            </a:solidFill>
            <a:ln w="31750" cap="flat">
              <a:solidFill>
                <a:srgbClr val="1B2B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2B5E"/>
              </a:solidFill>
              <a:ln w="9525" cap="flat">
                <a:solidFill>
                  <a:srgbClr val="1B2B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&lt;1</c:v>
                  </c:pt>
                  <c:pt idx="1">
                    <c:v>1-15</c:v>
                  </c:pt>
                  <c:pt idx="2">
                    <c:v>15-20</c:v>
                  </c:pt>
                  <c:pt idx="3">
                    <c:v>20-25</c:v>
                  </c:pt>
                  <c:pt idx="4">
                    <c:v>25-30</c:v>
                  </c:pt>
                  <c:pt idx="5">
                    <c:v>30-35</c:v>
                  </c:pt>
                  <c:pt idx="6">
                    <c:v>35-40</c:v>
                  </c:pt>
                  <c:pt idx="7">
                    <c:v>40-45</c:v>
                  </c:pt>
                  <c:pt idx="8">
                    <c:v>45-50</c:v>
                  </c:pt>
                  <c:pt idx="9">
                    <c:v>50-55</c:v>
                  </c:pt>
                  <c:pt idx="10">
                    <c:v>55-60</c:v>
                  </c:pt>
                  <c:pt idx="11">
                    <c:v>60-65</c:v>
                  </c:pt>
                  <c:pt idx="12">
                    <c:v>65-70</c:v>
                  </c:pt>
                  <c:pt idx="13">
                    <c:v>70-75</c:v>
                  </c:pt>
                  <c:pt idx="14">
                    <c:v>75-80</c:v>
                  </c:pt>
                  <c:pt idx="15">
                    <c:v>80-85</c:v>
                  </c:pt>
                  <c:pt idx="16">
                    <c:v>85+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22</c:v>
                </c:pt>
                <c:pt idx="1">
                  <c:v>48</c:v>
                </c:pt>
                <c:pt idx="2">
                  <c:v>53</c:v>
                </c:pt>
                <c:pt idx="3">
                  <c:v>94</c:v>
                </c:pt>
                <c:pt idx="4">
                  <c:v>170</c:v>
                </c:pt>
                <c:pt idx="5">
                  <c:v>300</c:v>
                </c:pt>
                <c:pt idx="6">
                  <c:v>485</c:v>
                </c:pt>
                <c:pt idx="7">
                  <c:v>1072</c:v>
                </c:pt>
                <c:pt idx="8">
                  <c:v>2500</c:v>
                </c:pt>
                <c:pt idx="9">
                  <c:v>4805</c:v>
                </c:pt>
                <c:pt idx="10">
                  <c:v>7057</c:v>
                </c:pt>
                <c:pt idx="11">
                  <c:v>10499</c:v>
                </c:pt>
                <c:pt idx="12">
                  <c:v>13282</c:v>
                </c:pt>
                <c:pt idx="13">
                  <c:v>26312</c:v>
                </c:pt>
                <c:pt idx="14">
                  <c:v>26232</c:v>
                </c:pt>
                <c:pt idx="15">
                  <c:v>61669</c:v>
                </c:pt>
                <c:pt idx="16">
                  <c:v>163518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Neubildungen</c:v>
                </c:pt>
              </c:strCache>
            </c:strRef>
          </c:tx>
          <c:spPr>
            <a:solidFill>
              <a:srgbClr val="E8634A"/>
            </a:solidFill>
            <a:ln w="31750" cap="flat">
              <a:solidFill>
                <a:srgbClr val="E86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634A"/>
              </a:solidFill>
              <a:ln w="9525" cap="flat">
                <a:solidFill>
                  <a:srgbClr val="E86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&lt;1</c:v>
                  </c:pt>
                  <c:pt idx="1">
                    <c:v>1-15</c:v>
                  </c:pt>
                  <c:pt idx="2">
                    <c:v>15-20</c:v>
                  </c:pt>
                  <c:pt idx="3">
                    <c:v>20-25</c:v>
                  </c:pt>
                  <c:pt idx="4">
                    <c:v>25-30</c:v>
                  </c:pt>
                  <c:pt idx="5">
                    <c:v>30-35</c:v>
                  </c:pt>
                  <c:pt idx="6">
                    <c:v>35-40</c:v>
                  </c:pt>
                  <c:pt idx="7">
                    <c:v>40-45</c:v>
                  </c:pt>
                  <c:pt idx="8">
                    <c:v>45-50</c:v>
                  </c:pt>
                  <c:pt idx="9">
                    <c:v>50-55</c:v>
                  </c:pt>
                  <c:pt idx="10">
                    <c:v>55-60</c:v>
                  </c:pt>
                  <c:pt idx="11">
                    <c:v>60-65</c:v>
                  </c:pt>
                  <c:pt idx="12">
                    <c:v>65-70</c:v>
                  </c:pt>
                  <c:pt idx="13">
                    <c:v>70-75</c:v>
                  </c:pt>
                  <c:pt idx="14">
                    <c:v>75-80</c:v>
                  </c:pt>
                  <c:pt idx="15">
                    <c:v>80-85</c:v>
                  </c:pt>
                  <c:pt idx="16">
                    <c:v>85+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19</c:v>
                </c:pt>
                <c:pt idx="1">
                  <c:v>227</c:v>
                </c:pt>
                <c:pt idx="2">
                  <c:v>121</c:v>
                </c:pt>
                <c:pt idx="3">
                  <c:v>148</c:v>
                </c:pt>
                <c:pt idx="4">
                  <c:v>264</c:v>
                </c:pt>
                <c:pt idx="5">
                  <c:v>473</c:v>
                </c:pt>
                <c:pt idx="6">
                  <c:v>813</c:v>
                </c:pt>
                <c:pt idx="7">
                  <c:v>1809</c:v>
                </c:pt>
                <c:pt idx="8">
                  <c:v>4641</c:v>
                </c:pt>
                <c:pt idx="9">
                  <c:v>9424</c:v>
                </c:pt>
                <c:pt idx="10">
                  <c:v>14283</c:v>
                </c:pt>
                <c:pt idx="11">
                  <c:v>20248</c:v>
                </c:pt>
                <c:pt idx="12">
                  <c:v>22540</c:v>
                </c:pt>
                <c:pt idx="13">
                  <c:v>36400</c:v>
                </c:pt>
                <c:pt idx="14">
                  <c:v>24306</c:v>
                </c:pt>
                <c:pt idx="15">
                  <c:v>34313</c:v>
                </c:pt>
                <c:pt idx="16">
                  <c:v>42673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Atmungssystem</c:v>
                </c:pt>
              </c:strCache>
            </c:strRef>
          </c:tx>
          <c:spPr>
            <a:solidFill>
              <a:srgbClr val="028090"/>
            </a:solidFill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&lt;1</c:v>
                  </c:pt>
                  <c:pt idx="1">
                    <c:v>1-15</c:v>
                  </c:pt>
                  <c:pt idx="2">
                    <c:v>15-20</c:v>
                  </c:pt>
                  <c:pt idx="3">
                    <c:v>20-25</c:v>
                  </c:pt>
                  <c:pt idx="4">
                    <c:v>25-30</c:v>
                  </c:pt>
                  <c:pt idx="5">
                    <c:v>30-35</c:v>
                  </c:pt>
                  <c:pt idx="6">
                    <c:v>35-40</c:v>
                  </c:pt>
                  <c:pt idx="7">
                    <c:v>40-45</c:v>
                  </c:pt>
                  <c:pt idx="8">
                    <c:v>45-50</c:v>
                  </c:pt>
                  <c:pt idx="9">
                    <c:v>50-55</c:v>
                  </c:pt>
                  <c:pt idx="10">
                    <c:v>55-60</c:v>
                  </c:pt>
                  <c:pt idx="11">
                    <c:v>60-65</c:v>
                  </c:pt>
                  <c:pt idx="12">
                    <c:v>65-70</c:v>
                  </c:pt>
                  <c:pt idx="13">
                    <c:v>70-75</c:v>
                  </c:pt>
                  <c:pt idx="14">
                    <c:v>75-80</c:v>
                  </c:pt>
                  <c:pt idx="15">
                    <c:v>80-85</c:v>
                  </c:pt>
                  <c:pt idx="16">
                    <c:v>85+</c:v>
                  </c:pt>
                </c:lvl>
              </c:multiLvlStrCache>
            </c:multiLvl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14</c:v>
                </c:pt>
                <c:pt idx="1">
                  <c:v>42</c:v>
                </c:pt>
                <c:pt idx="2">
                  <c:v>16</c:v>
                </c:pt>
                <c:pt idx="3">
                  <c:v>30</c:v>
                </c:pt>
                <c:pt idx="4">
                  <c:v>29</c:v>
                </c:pt>
                <c:pt idx="5">
                  <c:v>36</c:v>
                </c:pt>
                <c:pt idx="6">
                  <c:v>82</c:v>
                </c:pt>
                <c:pt idx="7">
                  <c:v>143</c:v>
                </c:pt>
                <c:pt idx="8">
                  <c:v>368</c:v>
                </c:pt>
                <c:pt idx="9">
                  <c:v>787</c:v>
                </c:pt>
                <c:pt idx="10">
                  <c:v>1478</c:v>
                </c:pt>
                <c:pt idx="11">
                  <c:v>2680</c:v>
                </c:pt>
                <c:pt idx="12">
                  <c:v>3697</c:v>
                </c:pt>
                <c:pt idx="13">
                  <c:v>6819</c:v>
                </c:pt>
                <c:pt idx="14">
                  <c:v>6399</c:v>
                </c:pt>
                <c:pt idx="15">
                  <c:v>11187</c:v>
                </c:pt>
                <c:pt idx="16">
                  <c:v>21009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Männlich</c:v>
                </c:pt>
              </c:strCache>
            </c:strRef>
          </c:tx>
          <c:spPr>
            <a:solidFill>
              <a:srgbClr val="1B2B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Kreislaufsystem</c:v>
                  </c:pt>
                  <c:pt idx="1">
                    <c:v>Neubildungen</c:v>
                  </c:pt>
                  <c:pt idx="2">
                    <c:v>Atmung</c:v>
                  </c:pt>
                  <c:pt idx="3">
                    <c:v>Verdauung</c:v>
                  </c:pt>
                  <c:pt idx="4">
                    <c:v>Psych. Störungen</c:v>
                  </c:pt>
                  <c:pt idx="5">
                    <c:v>Äußere Ursachen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148538</c:v>
                </c:pt>
                <c:pt idx="1">
                  <c:v>125120</c:v>
                </c:pt>
                <c:pt idx="2">
                  <c:v>31744</c:v>
                </c:pt>
                <c:pt idx="3">
                  <c:v>19993</c:v>
                </c:pt>
                <c:pt idx="4">
                  <c:v>13974</c:v>
                </c:pt>
                <c:pt idx="5">
                  <c:v>20845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Weiblich</c:v>
                </c:pt>
              </c:strCache>
            </c:strRef>
          </c:tx>
          <c:spPr>
            <a:solidFill>
              <a:srgbClr val="E86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Kreislaufsystem</c:v>
                  </c:pt>
                  <c:pt idx="1">
                    <c:v>Neubildungen</c:v>
                  </c:pt>
                  <c:pt idx="2">
                    <c:v>Atmung</c:v>
                  </c:pt>
                  <c:pt idx="3">
                    <c:v>Verdauung</c:v>
                  </c:pt>
                  <c:pt idx="4">
                    <c:v>Psych. Störungen</c:v>
                  </c:pt>
                  <c:pt idx="5">
                    <c:v>Äußere Ursachen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169580</c:v>
                </c:pt>
                <c:pt idx="1">
                  <c:v>87582</c:v>
                </c:pt>
                <c:pt idx="2">
                  <c:v>23072</c:v>
                </c:pt>
                <c:pt idx="3">
                  <c:v>16023</c:v>
                </c:pt>
                <c:pt idx="4">
                  <c:v>20347</c:v>
                </c:pt>
                <c:pt idx="5">
                  <c:v>12335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0F6F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Todesfälle</c:v>
                </c:pt>
              </c:strCache>
            </c:strRef>
          </c:tx>
          <c:spPr>
            <a:solidFill>
              <a:srgbClr val="1B2B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436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418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74E9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63B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E79C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28FC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6A5D5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Lunge/Bronchien</c:v>
                  </c:pt>
                  <c:pt idx="1">
                    <c:v>Genital-/Harnorgane</c:v>
                  </c:pt>
                  <c:pt idx="2">
                    <c:v>Leber/Gallen/Pankreas</c:v>
                  </c:pt>
                  <c:pt idx="3">
                    <c:v>Lymphat. Gewebe</c:v>
                  </c:pt>
                  <c:pt idx="4">
                    <c:v>Dickdarm</c:v>
                  </c:pt>
                  <c:pt idx="5">
                    <c:v>Brustdrüse</c:v>
                  </c:pt>
                  <c:pt idx="6">
                    <c:v>Pankreas</c:v>
                  </c:pt>
                  <c:pt idx="7">
                    <c:v>Prostata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42678</c:v>
                </c:pt>
                <c:pt idx="1">
                  <c:v>36551</c:v>
                </c:pt>
                <c:pt idx="2">
                  <c:v>25411</c:v>
                </c:pt>
                <c:pt idx="3">
                  <c:v>16826</c:v>
                </c:pt>
                <c:pt idx="4">
                  <c:v>15517</c:v>
                </c:pt>
                <c:pt idx="5">
                  <c:v>15022</c:v>
                </c:pt>
                <c:pt idx="6">
                  <c:v>14906</c:v>
                </c:pt>
                <c:pt idx="7">
                  <c:v>13704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Männlich</c:v>
                </c:pt>
              </c:strCache>
            </c:strRef>
          </c:tx>
          <c:spPr>
            <a:solidFill>
              <a:srgbClr val="1B2B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Suizide</c:v>
                  </c:pt>
                  <c:pt idx="1">
                    <c:v>Unfälle</c:v>
                  </c:pt>
                  <c:pt idx="2">
                    <c:v>Transportmittelunfälle</c:v>
                  </c:pt>
                  <c:pt idx="3">
                    <c:v>Stürze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7624</c:v>
                </c:pt>
                <c:pt idx="1">
                  <c:v>12240</c:v>
                </c:pt>
                <c:pt idx="2">
                  <c:v>1764</c:v>
                </c:pt>
                <c:pt idx="3">
                  <c:v>4356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Weiblich</c:v>
                </c:pt>
              </c:strCache>
            </c:strRef>
          </c:tx>
          <c:spPr>
            <a:solidFill>
              <a:srgbClr val="E86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Suizide</c:v>
                  </c:pt>
                  <c:pt idx="1">
                    <c:v>Unfälle</c:v>
                  </c:pt>
                  <c:pt idx="2">
                    <c:v>Transportmittelunfälle</c:v>
                  </c:pt>
                  <c:pt idx="3">
                    <c:v>Stürze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2365</c:v>
                </c:pt>
                <c:pt idx="1">
                  <c:v>9323</c:v>
                </c:pt>
                <c:pt idx="2">
                  <c:v>672</c:v>
                </c:pt>
                <c:pt idx="3">
                  <c:v>6204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0F6F8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Kreislauferkrankungen</c:v>
                </c:pt>
              </c:strCache>
            </c:strRef>
          </c:tx>
          <c:spPr>
            <a:solidFill>
              <a:srgbClr val="1B2B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&lt;1</c:v>
                  </c:pt>
                  <c:pt idx="1">
                    <c:v>1-15</c:v>
                  </c:pt>
                  <c:pt idx="2">
                    <c:v>15-20</c:v>
                  </c:pt>
                  <c:pt idx="3">
                    <c:v>20-25</c:v>
                  </c:pt>
                  <c:pt idx="4">
                    <c:v>25-30</c:v>
                  </c:pt>
                  <c:pt idx="5">
                    <c:v>30-35</c:v>
                  </c:pt>
                  <c:pt idx="6">
                    <c:v>35-40</c:v>
                  </c:pt>
                  <c:pt idx="7">
                    <c:v>40-45</c:v>
                  </c:pt>
                  <c:pt idx="8">
                    <c:v>45-50</c:v>
                  </c:pt>
                  <c:pt idx="9">
                    <c:v>50-55</c:v>
                  </c:pt>
                  <c:pt idx="10">
                    <c:v>55-60</c:v>
                  </c:pt>
                  <c:pt idx="11">
                    <c:v>60-65</c:v>
                  </c:pt>
                  <c:pt idx="12">
                    <c:v>65-70</c:v>
                  </c:pt>
                  <c:pt idx="13">
                    <c:v>70-75</c:v>
                  </c:pt>
                  <c:pt idx="14">
                    <c:v>75-80</c:v>
                  </c:pt>
                  <c:pt idx="15">
                    <c:v>80-85</c:v>
                  </c:pt>
                  <c:pt idx="16">
                    <c:v>85+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22</c:v>
                </c:pt>
                <c:pt idx="1">
                  <c:v>48</c:v>
                </c:pt>
                <c:pt idx="2">
                  <c:v>53</c:v>
                </c:pt>
                <c:pt idx="3">
                  <c:v>94</c:v>
                </c:pt>
                <c:pt idx="4">
                  <c:v>170</c:v>
                </c:pt>
                <c:pt idx="5">
                  <c:v>300</c:v>
                </c:pt>
                <c:pt idx="6">
                  <c:v>485</c:v>
                </c:pt>
                <c:pt idx="7">
                  <c:v>1072</c:v>
                </c:pt>
                <c:pt idx="8">
                  <c:v>2500</c:v>
                </c:pt>
                <c:pt idx="9">
                  <c:v>4805</c:v>
                </c:pt>
                <c:pt idx="10">
                  <c:v>7057</c:v>
                </c:pt>
                <c:pt idx="11">
                  <c:v>10499</c:v>
                </c:pt>
                <c:pt idx="12">
                  <c:v>13282</c:v>
                </c:pt>
                <c:pt idx="13">
                  <c:v>26312</c:v>
                </c:pt>
                <c:pt idx="14">
                  <c:v>26232</c:v>
                </c:pt>
                <c:pt idx="15">
                  <c:v>61669</c:v>
                </c:pt>
                <c:pt idx="16">
                  <c:v>163518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Neubildungen</c:v>
                </c:pt>
              </c:strCache>
            </c:strRef>
          </c:tx>
          <c:spPr>
            <a:solidFill>
              <a:srgbClr val="E86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&lt;1</c:v>
                  </c:pt>
                  <c:pt idx="1">
                    <c:v>1-15</c:v>
                  </c:pt>
                  <c:pt idx="2">
                    <c:v>15-20</c:v>
                  </c:pt>
                  <c:pt idx="3">
                    <c:v>20-25</c:v>
                  </c:pt>
                  <c:pt idx="4">
                    <c:v>25-30</c:v>
                  </c:pt>
                  <c:pt idx="5">
                    <c:v>30-35</c:v>
                  </c:pt>
                  <c:pt idx="6">
                    <c:v>35-40</c:v>
                  </c:pt>
                  <c:pt idx="7">
                    <c:v>40-45</c:v>
                  </c:pt>
                  <c:pt idx="8">
                    <c:v>45-50</c:v>
                  </c:pt>
                  <c:pt idx="9">
                    <c:v>50-55</c:v>
                  </c:pt>
                  <c:pt idx="10">
                    <c:v>55-60</c:v>
                  </c:pt>
                  <c:pt idx="11">
                    <c:v>60-65</c:v>
                  </c:pt>
                  <c:pt idx="12">
                    <c:v>65-70</c:v>
                  </c:pt>
                  <c:pt idx="13">
                    <c:v>70-75</c:v>
                  </c:pt>
                  <c:pt idx="14">
                    <c:v>75-80</c:v>
                  </c:pt>
                  <c:pt idx="15">
                    <c:v>80-85</c:v>
                  </c:pt>
                  <c:pt idx="16">
                    <c:v>85+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19</c:v>
                </c:pt>
                <c:pt idx="1">
                  <c:v>227</c:v>
                </c:pt>
                <c:pt idx="2">
                  <c:v>121</c:v>
                </c:pt>
                <c:pt idx="3">
                  <c:v>148</c:v>
                </c:pt>
                <c:pt idx="4">
                  <c:v>264</c:v>
                </c:pt>
                <c:pt idx="5">
                  <c:v>473</c:v>
                </c:pt>
                <c:pt idx="6">
                  <c:v>813</c:v>
                </c:pt>
                <c:pt idx="7">
                  <c:v>1809</c:v>
                </c:pt>
                <c:pt idx="8">
                  <c:v>4641</c:v>
                </c:pt>
                <c:pt idx="9">
                  <c:v>9424</c:v>
                </c:pt>
                <c:pt idx="10">
                  <c:v>14283</c:v>
                </c:pt>
                <c:pt idx="11">
                  <c:v>20248</c:v>
                </c:pt>
                <c:pt idx="12">
                  <c:v>22540</c:v>
                </c:pt>
                <c:pt idx="13">
                  <c:v>36400</c:v>
                </c:pt>
                <c:pt idx="14">
                  <c:v>24306</c:v>
                </c:pt>
                <c:pt idx="15">
                  <c:v>34313</c:v>
                </c:pt>
                <c:pt idx="16">
                  <c:v>42673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Todesursachenstatistik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Deutschland 2014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nach Krankheitsgruppen, Alter und Geschlecht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318.118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Kreislauferkrankungen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36576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3703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212.702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5176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Neubildungen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36576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703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54.816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Atemwegserkrankungen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36576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3703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36.016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4088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Verdauungssystem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Statistisches Bundesamt (Destatis) | data_Tode_2014.xlsx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Todesursachen im Überblick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Gesamtanzahl Todesfälle nach Krankheitsgruppe · Deutschland 2014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8595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Destatis 2014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Anteile der Krankheitsgruppen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Verteilung der Todesursachen · Deutschland 2014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914400" y="1097280"/>
          <a:ext cx="73152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Altersverteilung nach Todesursache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Todesfälle nach Altersgruppen · Top 3 Krankheitsgruppen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8595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Männer vs. Frauen im Vergleich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Todesfälle nach Geschlecht und Krankheitsgruppe · Deutschland 2014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8595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Bösartige Neubildungen – Untergruppen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Häufigste Krebsarten nach Todesfällen · Deutschland 2014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8595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Suizide &amp; Unfälle: Geschlechtervergleich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Vorsätzliche Selbstbeschädigung und Unfälle nach Geschlecht · 2014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8229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Kreislauferkrankungen: Sterberisiko mit dem Alter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Deutlicher Anstieg ab 65 Jahren · Flächendiagramm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8595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99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Kreislauferkrankungen sind mit 318.118 Fällen die häufigste Todesursache (≈ 40% aller Tode).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84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Neubildungen (Krebs) folgen mit 212.702 Fällen – Männer deutlich häufiger betroffen.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70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Sterblichkeitsrisiko steigt bei Kreislauferkrankungen ab 65 Jahren exponentiell an.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4747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56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4290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Suizide: Männer sterben dreimal häufiger durch Selbsttötung als Frauen (7.624 vs. 2.365).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1605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142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114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Lungenkrebs bleibt die häufigste krebsbedingte Todesursache (42.678 Fälle).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Statistisches Bundesamt (Destatis) · data_Tode_2014.xlsx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Todesursachen Deutschland 2014</dc:title>
  <dc:subject>PptxGenJS Presentation</dc:subject>
  <dc:creator>PptxGenJS</dc:creator>
  <cp:lastModifiedBy>PptxGenJS</cp:lastModifiedBy>
  <cp:revision>1</cp:revision>
  <dcterms:created xsi:type="dcterms:W3CDTF">2026-06-19T16:16:13Z</dcterms:created>
  <dcterms:modified xsi:type="dcterms:W3CDTF">2026-06-19T16:16:13Z</dcterms:modified>
</cp:coreProperties>
</file>