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  <p:sldId id="324" r:id="rId10"/>
    <p:sldId id="325" r:id="rId11"/>
    <p:sldId id="326" r:id="rId12"/>
    <p:sldId id="327" r:id="rId13"/>
    <p:sldId id="328" r:id="rId14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Sheet1!$A$2:$A$82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51284.0</c:v>
                </c:pt>
                <c:pt idx="1">
                  <c:v>645.0</c:v>
                </c:pt>
                <c:pt idx="2">
                  <c:v>13480.0</c:v>
                </c:pt>
                <c:pt idx="3">
                  <c:v>1677.0</c:v>
                </c:pt>
                <c:pt idx="4">
                  <c:v>477.0</c:v>
                </c:pt>
                <c:pt idx="5">
                  <c:v>165.0</c:v>
                </c:pt>
                <c:pt idx="6">
                  <c:v>1040.0</c:v>
                </c:pt>
                <c:pt idx="7">
                  <c:v>32672.0</c:v>
                </c:pt>
                <c:pt idx="8">
                  <c:v>1117.0</c:v>
                </c:pt>
                <c:pt idx="9">
                  <c:v>17054.0</c:v>
                </c:pt>
                <c:pt idx="10">
                  <c:v>44168.0</c:v>
                </c:pt>
                <c:pt idx="11">
                  <c:v>17125.0</c:v>
                </c:pt>
                <c:pt idx="12">
                  <c:v>42682.0</c:v>
                </c:pt>
                <c:pt idx="13">
                  <c:v>15360.0</c:v>
                </c:pt>
                <c:pt idx="14">
                  <c:v>1387.0</c:v>
                </c:pt>
                <c:pt idx="15">
                  <c:v>36712.0</c:v>
                </c:pt>
                <c:pt idx="16">
                  <c:v>5479.0</c:v>
                </c:pt>
                <c:pt idx="17">
                  <c:v>7008.0</c:v>
                </c:pt>
                <c:pt idx="18">
                  <c:v>25218.0</c:v>
                </c:pt>
                <c:pt idx="19">
                  <c:v>5304.0</c:v>
                </c:pt>
                <c:pt idx="20">
                  <c:v>5015.0</c:v>
                </c:pt>
                <c:pt idx="21">
                  <c:v>13408.0</c:v>
                </c:pt>
                <c:pt idx="22">
                  <c:v>2113.0</c:v>
                </c:pt>
                <c:pt idx="23">
                  <c:v>15793.0</c:v>
                </c:pt>
                <c:pt idx="24">
                  <c:v>8939.0</c:v>
                </c:pt>
                <c:pt idx="25">
                  <c:v>5254.0</c:v>
                </c:pt>
                <c:pt idx="26">
                  <c:v>4509.0</c:v>
                </c:pt>
                <c:pt idx="27">
                  <c:v>15017.0</c:v>
                </c:pt>
                <c:pt idx="28">
                  <c:v>7466.0</c:v>
                </c:pt>
                <c:pt idx="29">
                  <c:v>207336.0</c:v>
                </c:pt>
                <c:pt idx="30">
                  <c:v>2863.0</c:v>
                </c:pt>
                <c:pt idx="31">
                  <c:v>29898.0</c:v>
                </c:pt>
                <c:pt idx="32">
                  <c:v>780.0</c:v>
                </c:pt>
                <c:pt idx="33">
                  <c:v>0.0</c:v>
                </c:pt>
                <c:pt idx="34">
                  <c:v>0.0</c:v>
                </c:pt>
                <c:pt idx="35">
                  <c:v>22409.0</c:v>
                </c:pt>
                <c:pt idx="36">
                  <c:v>28900.0</c:v>
                </c:pt>
                <c:pt idx="37">
                  <c:v>1530.0</c:v>
                </c:pt>
                <c:pt idx="38">
                  <c:v>445.0</c:v>
                </c:pt>
                <c:pt idx="39">
                  <c:v>398.0</c:v>
                </c:pt>
                <c:pt idx="40">
                  <c:v>428.0</c:v>
                </c:pt>
                <c:pt idx="41">
                  <c:v>547.0</c:v>
                </c:pt>
                <c:pt idx="42">
                  <c:v>398.0</c:v>
                </c:pt>
                <c:pt idx="43">
                  <c:v>37530.0</c:v>
                </c:pt>
                <c:pt idx="44">
                  <c:v>121953.0</c:v>
                </c:pt>
                <c:pt idx="45">
                  <c:v>3193.0</c:v>
                </c:pt>
                <c:pt idx="46">
                  <c:v>23849.0</c:v>
                </c:pt>
                <c:pt idx="47">
                  <c:v>17440.0</c:v>
                </c:pt>
                <c:pt idx="48">
                  <c:v>1259.0</c:v>
                </c:pt>
                <c:pt idx="49">
                  <c:v>14597.0</c:v>
                </c:pt>
                <c:pt idx="50">
                  <c:v>15680.0</c:v>
                </c:pt>
                <c:pt idx="51">
                  <c:v>60877.0</c:v>
                </c:pt>
                <c:pt idx="52">
                  <c:v>2680.0</c:v>
                </c:pt>
                <c:pt idx="53">
                  <c:v>333839.0</c:v>
                </c:pt>
                <c:pt idx="54">
                  <c:v>20411.0</c:v>
                </c:pt>
                <c:pt idx="55">
                  <c:v>37669.0</c:v>
                </c:pt>
                <c:pt idx="56">
                  <c:v>7289.0</c:v>
                </c:pt>
                <c:pt idx="57">
                  <c:v>3585.0</c:v>
                </c:pt>
                <c:pt idx="58">
                  <c:v>125.0</c:v>
                </c:pt>
                <c:pt idx="59">
                  <c:v>29.0</c:v>
                </c:pt>
                <c:pt idx="60">
                  <c:v>213780.0</c:v>
                </c:pt>
                <c:pt idx="61">
                  <c:v>152.0</c:v>
                </c:pt>
                <c:pt idx="62">
                  <c:v>18847.0</c:v>
                </c:pt>
                <c:pt idx="63">
                  <c:v>786.0</c:v>
                </c:pt>
                <c:pt idx="64">
                  <c:v>34446.0</c:v>
                </c:pt>
                <c:pt idx="65">
                  <c:v>5367.0</c:v>
                </c:pt>
                <c:pt idx="66">
                  <c:v>17739.0</c:v>
                </c:pt>
                <c:pt idx="67">
                  <c:v>29.0</c:v>
                </c:pt>
                <c:pt idx="68">
                  <c:v>18491.0</c:v>
                </c:pt>
                <c:pt idx="69">
                  <c:v>77184.0</c:v>
                </c:pt>
                <c:pt idx="70">
                  <c:v>12151.0</c:v>
                </c:pt>
                <c:pt idx="71">
                  <c:v>10221.0</c:v>
                </c:pt>
                <c:pt idx="72">
                  <c:v>23920.0</c:v>
                </c:pt>
                <c:pt idx="73">
                  <c:v>383.0</c:v>
                </c:pt>
                <c:pt idx="74">
                  <c:v>3663.0</c:v>
                </c:pt>
                <c:pt idx="75">
                  <c:v>344.0</c:v>
                </c:pt>
                <c:pt idx="76">
                  <c:v>2423.0</c:v>
                </c:pt>
                <c:pt idx="77">
                  <c:v>20878.0</c:v>
                </c:pt>
                <c:pt idx="78">
                  <c:v>916.0</c:v>
                </c:pt>
                <c:pt idx="79">
                  <c:v>9842.0</c:v>
                </c:pt>
                <c:pt idx="80">
                  <c:v>54508.0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Verhaltensstörungen</c:v>
                </c:pt>
                <c:pt idx="7">
                  <c:v>Zerebrovaskuläre Krankheiten</c:v>
                </c:pt>
                <c:pt idx="8">
                  <c:v>BN d. Larynx, d. Trachea, d. Bronchien u. d. Lun…</c:v>
                </c:pt>
                <c:pt idx="9">
                  <c:v>Akuter oder rezidivierender Myokardinfarkt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333839.0</c:v>
                </c:pt>
                <c:pt idx="1">
                  <c:v>213780.0</c:v>
                </c:pt>
                <c:pt idx="2">
                  <c:v>207336.0</c:v>
                </c:pt>
                <c:pt idx="3">
                  <c:v>121953.0</c:v>
                </c:pt>
                <c:pt idx="4">
                  <c:v>77184.0</c:v>
                </c:pt>
                <c:pt idx="5">
                  <c:v>60877.0</c:v>
                </c:pt>
                <c:pt idx="6">
                  <c:v>34446.0</c:v>
                </c:pt>
                <c:pt idx="7">
                  <c:v>54508.0</c:v>
                </c:pt>
                <c:pt idx="8">
                  <c:v>0.0</c:v>
                </c:pt>
                <c:pt idx="9">
                  <c:v>51284.0</c:v>
                </c:pt>
              </c:numCache>
            </c:numRef>
          </c:val>
        </c:ser>
        <c:dLbls>
          <c:numFmt formatCode="#.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&lt;1</c:v>
                </c:pt>
                <c:pt idx="1">
                  <c:v>1-15</c:v>
                </c:pt>
                <c:pt idx="2">
                  <c:v>15-20</c:v>
                </c:pt>
                <c:pt idx="3">
                  <c:v>20-25</c:v>
                </c:pt>
                <c:pt idx="4">
                  <c:v>25-30</c:v>
                </c:pt>
                <c:pt idx="5">
                  <c:v>30-35</c:v>
                </c:pt>
                <c:pt idx="6">
                  <c:v>35-40</c:v>
                </c:pt>
                <c:pt idx="7">
                  <c:v>40-45</c:v>
                </c:pt>
                <c:pt idx="8">
                  <c:v>45-50</c:v>
                </c:pt>
                <c:pt idx="9">
                  <c:v>50-55</c:v>
                </c:pt>
                <c:pt idx="10">
                  <c:v>55-60</c:v>
                </c:pt>
                <c:pt idx="11">
                  <c:v>60-65</c:v>
                </c:pt>
                <c:pt idx="12">
                  <c:v>65-70</c:v>
                </c:pt>
                <c:pt idx="13">
                  <c:v>70-75</c:v>
                </c:pt>
                <c:pt idx="14">
                  <c:v>75-80</c:v>
                </c:pt>
                <c:pt idx="15">
                  <c:v>80-85</c:v>
                </c:pt>
                <c:pt idx="16">
                  <c:v>85 +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5598.0</c:v>
                </c:pt>
                <c:pt idx="1">
                  <c:v>3138.0</c:v>
                </c:pt>
                <c:pt idx="2">
                  <c:v>2787.0</c:v>
                </c:pt>
                <c:pt idx="3">
                  <c:v>4281.0</c:v>
                </c:pt>
                <c:pt idx="4">
                  <c:v>5538.0</c:v>
                </c:pt>
                <c:pt idx="5">
                  <c:v>8547.0</c:v>
                </c:pt>
                <c:pt idx="6">
                  <c:v>12762.0</c:v>
                </c:pt>
                <c:pt idx="7">
                  <c:v>18196.0</c:v>
                </c:pt>
                <c:pt idx="8">
                  <c:v>34549.0</c:v>
                </c:pt>
                <c:pt idx="9">
                  <c:v>75288.0</c:v>
                </c:pt>
                <c:pt idx="10">
                  <c:v>126702.0</c:v>
                </c:pt>
                <c:pt idx="11">
                  <c:v>175683.0</c:v>
                </c:pt>
                <c:pt idx="12">
                  <c:v>233327.0</c:v>
                </c:pt>
                <c:pt idx="13">
                  <c:v>257671.0</c:v>
                </c:pt>
                <c:pt idx="14">
                  <c:v>251230.0</c:v>
                </c:pt>
                <c:pt idx="15">
                  <c:v>581516.0</c:v>
                </c:pt>
                <c:pt idx="16">
                  <c:v>1064545.0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Verhaltensstörunge…</c:v>
                </c:pt>
                <c:pt idx="7">
                  <c:v>Zerebrovaskuläre Krankheiten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333839.0</c:v>
                </c:pt>
                <c:pt idx="1">
                  <c:v>213780.0</c:v>
                </c:pt>
                <c:pt idx="2">
                  <c:v>207336.0</c:v>
                </c:pt>
                <c:pt idx="3">
                  <c:v>121953.0</c:v>
                </c:pt>
                <c:pt idx="4">
                  <c:v>77184.0</c:v>
                </c:pt>
                <c:pt idx="5">
                  <c:v>60877.0</c:v>
                </c:pt>
                <c:pt idx="6">
                  <c:v>0.0</c:v>
                </c:pt>
                <c:pt idx="7">
                  <c:v>54508.0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Krankheiten des Atmungssystems</c:v>
                </c:pt>
                <c:pt idx="3">
                  <c:v>Psychische und Verhaltensstörungen</c:v>
                </c:pt>
                <c:pt idx="4">
                  <c:v>Äußere Ursachen von Morbidität und …</c:v>
                </c:pt>
                <c:pt idx="5">
                  <c:v>Krankheiten des Verdauungssystems</c:v>
                </c:pt>
                <c:pt idx="6">
                  <c:v>Endokrine, Ernährungs0 u. Stoffwech…</c:v>
                </c:pt>
                <c:pt idx="7">
                  <c:v>Krankheiten des Urogenitalsystems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333839.0</c:v>
                </c:pt>
                <c:pt idx="1">
                  <c:v>213780.0</c:v>
                </c:pt>
                <c:pt idx="2">
                  <c:v>60877.0</c:v>
                </c:pt>
                <c:pt idx="3">
                  <c:v>34446.0</c:v>
                </c:pt>
                <c:pt idx="4">
                  <c:v>0.0</c:v>
                </c:pt>
                <c:pt idx="5">
                  <c:v>37669.0</c:v>
                </c:pt>
                <c:pt idx="6">
                  <c:v>0.0</c:v>
                </c:pt>
                <c:pt idx="7">
                  <c:v>20411.0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Top 10 Todesursachen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Rangfolge nach Gesamtzahl der Todesfälle je Todesursachen-Kategorie.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81381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Hinweis: Die Darstellung basiert auf den aggregierten „Insgesamt“-Spalten der Excel-Datei.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Altersverteilung der Todesfälle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Summe aller Todesursachen je Altersgruppe.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 höheren Altersgruppen dominieren die Gesamtverteilung deutlich.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Geschlechtervergleich bei führenden 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Männliche und weibliche Todesfälle für die acht größten Kategorien.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Basis: getrennte Alters-/Geschlechtsspalten der Excel-Datei; unbekannte Altersangaben wurden der männlichen Gruppe nicht separat visualisiert.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Anteil zentraler Obergruppen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Ausgewählte ICD-Obergruppen im Verhältnis zueinander.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3258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Nur ausgewählte Obergruppen; Unterkategorien wurden hier bewusst nicht zusätzlich addiert, um Doppelzählungen zu vermeiden.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Kernaussagen aus den Diagrammen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Zusammenfassung der wichtigsten Muster in den 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Gesamt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886.964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im Datensatz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Größte Obergruppe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315.098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Krankheiten des Kreislaufsystems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Neubildungen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221.487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zweite zentrale Obergruppe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85+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1.646.061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in der höchsten Altersgruppe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Diese Folie ist als Executive Summary der neu ergänzten Diagramme gedacht.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