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323" r:id="rId3"/>
  </p:sldIdLst>
  <p:sldSz cx="12192000" cy="6858000"/>
  <p:notesSz cx="6797675" cy="9928225"/>
  <p:defaultTextStyle>
    <a:defPPr>
      <a:defRPr lang="de-D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15" autoAdjust="0"/>
    <p:restoredTop sz="94628" autoAdjust="0"/>
  </p:normalViewPr>
  <p:slideViewPr>
    <p:cSldViewPr snapToGrid="0" snapToObjects="1">
      <p:cViewPr varScale="1">
        <p:scale>
          <a:sx n="160" d="100"/>
          <a:sy n="160" d="100"/>
        </p:scale>
        <p:origin x="20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/Users/csb/Desktop/Uni/alte%20uni/data%20literacy/data_Tode_201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[data_Tode_2011.xlsx]Tabelle2!PivotTable3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Tabelle2!$B$3:$B$4</c:f>
              <c:strCache>
                <c:ptCount val="1"/>
                <c:pt idx="0">
                  <c:v>2011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Tabelle2!$A$5:$A$86</c:f>
              <c:strCache>
                <c:ptCount val="81"/>
                <c:pt idx="0">
                  <c:v>Akuter oder rezidivierender Myokardinfarkt</c:v>
                </c:pt>
                <c:pt idx="1">
                  <c:v>Akzid. Vergiftung: schädl. Substanzen (inkl. Exp.)</c:v>
                </c:pt>
                <c:pt idx="2">
                  <c:v>Alkoh.Leberkh.,Chron.Hepatitis,Leberfibr.u.0zirr.</c:v>
                </c:pt>
                <c:pt idx="3">
                  <c:v>Angeb. Fehlbildungen,Deformitäten,Chromosomenanom.</c:v>
                </c:pt>
                <c:pt idx="4">
                  <c:v>Angeborene Fehlbildungen des Kreislaufsystems</c:v>
                </c:pt>
                <c:pt idx="5">
                  <c:v>Angeborene Fehlbildungen des Nervensystems</c:v>
                </c:pt>
                <c:pt idx="6">
                  <c:v>Asthma</c:v>
                </c:pt>
                <c:pt idx="7">
                  <c:v>Äußere Ursachen von Morbidität und Mortalität</c:v>
                </c:pt>
                <c:pt idx="8">
                  <c:v>Best.Zustände mit Ursprung in der Perinatalperiode</c:v>
                </c:pt>
                <c:pt idx="9">
                  <c:v>Bestimmte infektiöse und parasitäre Krankheiten</c:v>
                </c:pt>
                <c:pt idx="10">
                  <c:v>BN d. Larynx, d. Trachea, d. Bronchien u. d. Lunge</c:v>
                </c:pt>
                <c:pt idx="11">
                  <c:v>BN d. lymphat., blutbild. u. verwandten Gewebes</c:v>
                </c:pt>
                <c:pt idx="12">
                  <c:v>BN der Bronchien und der Lunge</c:v>
                </c:pt>
                <c:pt idx="13">
                  <c:v>BN der Brustdrüse</c:v>
                </c:pt>
                <c:pt idx="14">
                  <c:v>BN der Cervix uteri</c:v>
                </c:pt>
                <c:pt idx="15">
                  <c:v>BN der Genital0 und Harnorgane</c:v>
                </c:pt>
                <c:pt idx="16">
                  <c:v>BN der Harnblase</c:v>
                </c:pt>
                <c:pt idx="17">
                  <c:v>BN der Leber und der intrahepatischen Gallengänge</c:v>
                </c:pt>
                <c:pt idx="18">
                  <c:v>BN der Leber, der Gallenwege und des Pankreas</c:v>
                </c:pt>
                <c:pt idx="19">
                  <c:v>BN der Lippe, der Mundhöhle und des Pharynx</c:v>
                </c:pt>
                <c:pt idx="20">
                  <c:v>BN der Niere, ausgenommen Nierenbecken</c:v>
                </c:pt>
                <c:pt idx="21">
                  <c:v>BN der Prostata</c:v>
                </c:pt>
                <c:pt idx="22">
                  <c:v>BN des Corpus uteri u. Uterus, Teil n.n. bezeichn.</c:v>
                </c:pt>
                <c:pt idx="23">
                  <c:v>BN des Dickdarms</c:v>
                </c:pt>
                <c:pt idx="24">
                  <c:v>BN des Magens</c:v>
                </c:pt>
                <c:pt idx="25">
                  <c:v>BN des Ösophagus</c:v>
                </c:pt>
                <c:pt idx="26">
                  <c:v>BN des Ovars</c:v>
                </c:pt>
                <c:pt idx="27">
                  <c:v>BN des Pankreas</c:v>
                </c:pt>
                <c:pt idx="28">
                  <c:v>BN des Rektums, des Anus und am Rektosigmoid</c:v>
                </c:pt>
                <c:pt idx="29">
                  <c:v>Bösartige Neubildungen (BN)</c:v>
                </c:pt>
                <c:pt idx="30">
                  <c:v>Bösartiges Melanom der Haut</c:v>
                </c:pt>
                <c:pt idx="31">
                  <c:v>Chronische Krankheiten der unteren Atemwege</c:v>
                </c:pt>
                <c:pt idx="32">
                  <c:v>Chronische Polyarthritis und Arthrose</c:v>
                </c:pt>
                <c:pt idx="33">
                  <c:v>COVID019, Virus nachgewiesen</c:v>
                </c:pt>
                <c:pt idx="34">
                  <c:v>COVID019, Virus nicht nachgewiesen</c:v>
                </c:pt>
                <c:pt idx="35">
                  <c:v>Diabetes mellitus</c:v>
                </c:pt>
                <c:pt idx="36">
                  <c:v>Endokrine, Ernährungs0 u. Stoffwechselkrankheiten</c:v>
                </c:pt>
                <c:pt idx="37">
                  <c:v>Ereignis, dessen nähere Umstände unbestimmt sind</c:v>
                </c:pt>
                <c:pt idx="38">
                  <c:v>Ertrinken und Untergehen</c:v>
                </c:pt>
                <c:pt idx="39">
                  <c:v>Exposition gegenüber Rauch, Feuer und Flammen</c:v>
                </c:pt>
                <c:pt idx="40">
                  <c:v>Grippe</c:v>
                </c:pt>
                <c:pt idx="41">
                  <c:v>Gutartige Neubildungen</c:v>
                </c:pt>
                <c:pt idx="42">
                  <c:v>HIV0Krankheit</c:v>
                </c:pt>
                <c:pt idx="43">
                  <c:v>Hypertonie (Hochdruckkrankheit)</c:v>
                </c:pt>
                <c:pt idx="44">
                  <c:v>Ischämische Herzkrankheiten</c:v>
                </c:pt>
                <c:pt idx="45">
                  <c:v>Krankh. des Muskel0Skelett0Systems u. Bindegewebes</c:v>
                </c:pt>
                <c:pt idx="46">
                  <c:v>Krankheiten d. Nervensystems u. d. Sinnesorgane</c:v>
                </c:pt>
                <c:pt idx="47">
                  <c:v>Krankheiten der Arterien, Arteriolen und Kapillare</c:v>
                </c:pt>
                <c:pt idx="48">
                  <c:v>Krankheiten der Haut und der Unterhaut</c:v>
                </c:pt>
                <c:pt idx="49">
                  <c:v>Krankheiten der Leber</c:v>
                </c:pt>
                <c:pt idx="50">
                  <c:v>Krankheiten der Niere</c:v>
                </c:pt>
                <c:pt idx="51">
                  <c:v>Krankheiten des Atmungssystems</c:v>
                </c:pt>
                <c:pt idx="52">
                  <c:v>Krankheiten des Blutes u. der blutbildenden Organe</c:v>
                </c:pt>
                <c:pt idx="53">
                  <c:v>Krankheiten des Kreislaufsystems</c:v>
                </c:pt>
                <c:pt idx="54">
                  <c:v>Krankheiten des Urogenitalsystems</c:v>
                </c:pt>
                <c:pt idx="55">
                  <c:v>Krankheiten des Verdauungssystems</c:v>
                </c:pt>
                <c:pt idx="56">
                  <c:v>Leukämie</c:v>
                </c:pt>
                <c:pt idx="57">
                  <c:v>Melanom und sonstige bösartige Neubild. der Haut</c:v>
                </c:pt>
                <c:pt idx="58">
                  <c:v>Meningitis</c:v>
                </c:pt>
                <c:pt idx="59">
                  <c:v>Meningokokkeninfektion</c:v>
                </c:pt>
                <c:pt idx="60">
                  <c:v>Neubildungen</c:v>
                </c:pt>
                <c:pt idx="61">
                  <c:v>Plötzlicher Kindstod</c:v>
                </c:pt>
                <c:pt idx="62">
                  <c:v>Pneumonie</c:v>
                </c:pt>
                <c:pt idx="63">
                  <c:v>Psych. u. Verhaltensstörungen d.a.psychotr. Subst.</c:v>
                </c:pt>
                <c:pt idx="64">
                  <c:v>Psychische und Verhaltensstörungen</c:v>
                </c:pt>
                <c:pt idx="65">
                  <c:v>Psychische und Verhaltensstörungen durch Alkohol</c:v>
                </c:pt>
                <c:pt idx="66">
                  <c:v>Schlaganfall, nicht als Blutung oder Infarkt bez.</c:v>
                </c:pt>
                <c:pt idx="67">
                  <c:v>Schwangerschaft, Geburt und Wochenbett</c:v>
                </c:pt>
                <c:pt idx="68">
                  <c:v>Sonst. ungenau bezeichnete u. unbek. Todesursachen</c:v>
                </c:pt>
                <c:pt idx="69">
                  <c:v>Sonstige Formen der Herzkrankheit</c:v>
                </c:pt>
                <c:pt idx="70">
                  <c:v>Sonstige Krankheiten des Endokards</c:v>
                </c:pt>
                <c:pt idx="71">
                  <c:v>Stürze</c:v>
                </c:pt>
                <c:pt idx="72">
                  <c:v>Symptome und abnorme klinische und Laborbefunde</c:v>
                </c:pt>
                <c:pt idx="73">
                  <c:v>Tätlicher Angriff</c:v>
                </c:pt>
                <c:pt idx="74">
                  <c:v>Transportmittelunfälle</c:v>
                </c:pt>
                <c:pt idx="75">
                  <c:v>Tuberkulose einschließlich ihrer Folgezustände</c:v>
                </c:pt>
                <c:pt idx="76">
                  <c:v>Ulcus ventriculi, duodeni, pepticum, pept. jejuni</c:v>
                </c:pt>
                <c:pt idx="77">
                  <c:v>Unfälle einschließlich Spätfolgen</c:v>
                </c:pt>
                <c:pt idx="78">
                  <c:v>Virushepatitis</c:v>
                </c:pt>
                <c:pt idx="79">
                  <c:v>Vorsätzliche Selbstbeschädigung</c:v>
                </c:pt>
                <c:pt idx="80">
                  <c:v>Zerebrovaskuläre Krankheiten</c:v>
                </c:pt>
              </c:strCache>
            </c:strRef>
          </c:cat>
          <c:val>
            <c:numRef>
              <c:f>Tabelle2!$B$5:$B$86</c:f>
              <c:numCache>
                <c:formatCode>General</c:formatCode>
                <c:ptCount val="81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362</c:v>
                </c:pt>
                <c:pt idx="4">
                  <c:v>134</c:v>
                </c:pt>
                <c:pt idx="5">
                  <c:v>29</c:v>
                </c:pt>
                <c:pt idx="6">
                  <c:v>0</c:v>
                </c:pt>
                <c:pt idx="7">
                  <c:v>45</c:v>
                </c:pt>
                <c:pt idx="8">
                  <c:v>668</c:v>
                </c:pt>
                <c:pt idx="9">
                  <c:v>14</c:v>
                </c:pt>
                <c:pt idx="10">
                  <c:v>1</c:v>
                </c:pt>
                <c:pt idx="11">
                  <c:v>2</c:v>
                </c:pt>
                <c:pt idx="12">
                  <c:v>0</c:v>
                </c:pt>
                <c:pt idx="13">
                  <c:v>1</c:v>
                </c:pt>
                <c:pt idx="14">
                  <c:v>0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  <c:pt idx="18">
                  <c:v>1</c:v>
                </c:pt>
                <c:pt idx="19">
                  <c:v>0</c:v>
                </c:pt>
                <c:pt idx="20">
                  <c:v>1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1</c:v>
                </c:pt>
                <c:pt idx="25">
                  <c:v>0</c:v>
                </c:pt>
                <c:pt idx="26">
                  <c:v>0</c:v>
                </c:pt>
                <c:pt idx="27">
                  <c:v>1</c:v>
                </c:pt>
                <c:pt idx="28">
                  <c:v>0</c:v>
                </c:pt>
                <c:pt idx="29">
                  <c:v>15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18</c:v>
                </c:pt>
                <c:pt idx="37">
                  <c:v>3</c:v>
                </c:pt>
                <c:pt idx="38">
                  <c:v>3</c:v>
                </c:pt>
                <c:pt idx="39">
                  <c:v>1</c:v>
                </c:pt>
                <c:pt idx="40">
                  <c:v>2</c:v>
                </c:pt>
                <c:pt idx="41">
                  <c:v>1</c:v>
                </c:pt>
                <c:pt idx="42">
                  <c:v>1</c:v>
                </c:pt>
                <c:pt idx="43">
                  <c:v>0</c:v>
                </c:pt>
                <c:pt idx="44">
                  <c:v>1</c:v>
                </c:pt>
                <c:pt idx="45">
                  <c:v>1</c:v>
                </c:pt>
                <c:pt idx="46">
                  <c:v>35</c:v>
                </c:pt>
                <c:pt idx="47">
                  <c:v>1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18</c:v>
                </c:pt>
                <c:pt idx="52">
                  <c:v>8</c:v>
                </c:pt>
                <c:pt idx="53">
                  <c:v>21</c:v>
                </c:pt>
                <c:pt idx="54">
                  <c:v>0</c:v>
                </c:pt>
                <c:pt idx="55">
                  <c:v>5</c:v>
                </c:pt>
                <c:pt idx="56">
                  <c:v>2</c:v>
                </c:pt>
                <c:pt idx="57">
                  <c:v>0</c:v>
                </c:pt>
                <c:pt idx="58">
                  <c:v>2</c:v>
                </c:pt>
                <c:pt idx="59">
                  <c:v>2</c:v>
                </c:pt>
                <c:pt idx="60">
                  <c:v>19</c:v>
                </c:pt>
                <c:pt idx="61">
                  <c:v>94</c:v>
                </c:pt>
                <c:pt idx="62">
                  <c:v>9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38</c:v>
                </c:pt>
                <c:pt idx="69">
                  <c:v>12</c:v>
                </c:pt>
                <c:pt idx="70">
                  <c:v>2</c:v>
                </c:pt>
                <c:pt idx="71">
                  <c:v>2</c:v>
                </c:pt>
                <c:pt idx="72">
                  <c:v>133</c:v>
                </c:pt>
                <c:pt idx="73">
                  <c:v>14</c:v>
                </c:pt>
                <c:pt idx="74">
                  <c:v>2</c:v>
                </c:pt>
                <c:pt idx="75">
                  <c:v>0</c:v>
                </c:pt>
                <c:pt idx="76">
                  <c:v>0</c:v>
                </c:pt>
                <c:pt idx="77">
                  <c:v>28</c:v>
                </c:pt>
                <c:pt idx="78">
                  <c:v>0</c:v>
                </c:pt>
                <c:pt idx="79">
                  <c:v>0</c:v>
                </c:pt>
                <c:pt idx="8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85-D944-A59C-5F43CDDF0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1632128"/>
        <c:axId val="1731633920"/>
      </c:barChart>
      <c:catAx>
        <c:axId val="173163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31633920"/>
        <c:crosses val="autoZero"/>
        <c:auto val="1"/>
        <c:lblAlgn val="ctr"/>
        <c:lblOffset val="100"/>
        <c:noMultiLvlLbl val="0"/>
      </c:catAx>
      <c:valAx>
        <c:axId val="1731633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3163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wmf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28588"/>
            <a:ext cx="3398837" cy="652462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9219" name="Gruppierung 2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7" name="Rechteck 6"/>
            <p:cNvSpPr/>
            <p:nvPr userDrawn="1"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8" name="Rechteck 7"/>
            <p:cNvSpPr/>
            <p:nvPr userDrawn="1"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700588" y="388938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DEABD8D7-DB7D-4262-BD90-67B58EBF3A4F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9221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9096375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0"/>
          <p:cNvSpPr txBox="1">
            <a:spLocks noChangeArrowheads="1"/>
          </p:cNvSpPr>
          <p:nvPr/>
        </p:nvSpPr>
        <p:spPr bwMode="auto">
          <a:xfrm>
            <a:off x="4700588" y="139700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15.06.26</a:t>
            </a:fld>
            <a:endParaRPr lang="de-DE" sz="900" dirty="0"/>
          </a:p>
        </p:txBody>
      </p:sp>
      <p:sp>
        <p:nvSpPr>
          <p:cNvPr id="14" name="Fußzeilenplatzhalter 3"/>
          <p:cNvSpPr txBox="1">
            <a:spLocks/>
          </p:cNvSpPr>
          <p:nvPr/>
        </p:nvSpPr>
        <p:spPr>
          <a:xfrm>
            <a:off x="1133475" y="9105900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269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wmf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47663" y="744538"/>
            <a:ext cx="4978400" cy="2800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133475" y="3697288"/>
            <a:ext cx="5414963" cy="47847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8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50813"/>
            <a:ext cx="3398837" cy="482600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7173" name="Gruppierung 1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9" name="Rechteck 8"/>
            <p:cNvSpPr/>
            <p:nvPr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1" name="Rechteck 10"/>
            <p:cNvSpPr/>
            <p:nvPr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4700588" y="411163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461BB4A2-88BF-4F1A-ADC3-F64B0D1FA15C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7175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8851900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0"/>
          <p:cNvSpPr txBox="1">
            <a:spLocks noChangeArrowheads="1"/>
          </p:cNvSpPr>
          <p:nvPr/>
        </p:nvSpPr>
        <p:spPr bwMode="auto">
          <a:xfrm>
            <a:off x="4700588" y="161925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15.06.26</a:t>
            </a:fld>
            <a:endParaRPr lang="de-DE" sz="900" dirty="0"/>
          </a:p>
        </p:txBody>
      </p:sp>
      <p:sp>
        <p:nvSpPr>
          <p:cNvPr id="15" name="Fußzeilenplatzhalter 3"/>
          <p:cNvSpPr txBox="1">
            <a:spLocks/>
          </p:cNvSpPr>
          <p:nvPr/>
        </p:nvSpPr>
        <p:spPr>
          <a:xfrm>
            <a:off x="1133475" y="8861425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7181256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DE" altLang="de-DE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seite mit groß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433236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206500" y="4535620"/>
            <a:ext cx="10800000" cy="708217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 dirty="0"/>
              <a:t>Titelmasterformat durch </a:t>
            </a:r>
            <a:br>
              <a:rPr lang="de-DE" dirty="0"/>
            </a:br>
            <a:r>
              <a:rPr lang="de-DE" dirty="0"/>
              <a:t>Klicken bearbeiten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5455920"/>
            <a:ext cx="10800000" cy="381020"/>
          </a:xfrm>
        </p:spPr>
        <p:txBody>
          <a:bodyPr/>
          <a:lstStyle>
            <a:lvl1pPr>
              <a:lnSpc>
                <a:spcPts val="2200"/>
              </a:lnSpc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299C-BD0A-4F11-93C3-2AFFB449765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8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BD9B6713-36FE-4B94-85D8-9FA2DCE30A8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60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ts val="3000"/>
              </a:lnSpc>
              <a:defRPr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2"/>
          </p:nvPr>
        </p:nvSpPr>
        <p:spPr>
          <a:xfrm>
            <a:off x="1204913" y="1548000"/>
            <a:ext cx="10799762" cy="4320000"/>
          </a:xfrm>
        </p:spPr>
        <p:txBody>
          <a:bodyPr/>
          <a:lstStyle>
            <a:lvl1pPr>
              <a:lnSpc>
                <a:spcPct val="112000"/>
              </a:lnSpc>
              <a:defRPr sz="1800">
                <a:latin typeface="Arial" pitchFamily="34" charset="0"/>
                <a:cs typeface="Arial" pitchFamily="34" charset="0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3pPr>
            <a:lvl4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165A3-ACD9-4AA5-B95A-82DA06B8D41A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4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/>
          <p:cNvSpPr>
            <a:spLocks noGrp="1"/>
          </p:cNvSpPr>
          <p:nvPr>
            <p:ph type="title"/>
          </p:nvPr>
        </p:nvSpPr>
        <p:spPr>
          <a:xfrm>
            <a:off x="1204675" y="3276600"/>
            <a:ext cx="10800000" cy="1356360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ts val="3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3067152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4772804"/>
            <a:ext cx="10800000" cy="1031596"/>
          </a:xfrm>
        </p:spPr>
        <p:txBody>
          <a:bodyPr/>
          <a:lstStyle>
            <a:lvl1pPr>
              <a:lnSpc>
                <a:spcPts val="2200"/>
              </a:lnSpc>
              <a:defRPr sz="1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3059C-AC1D-4DB8-B34A-88D05D51CBFD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8D2255-8A42-41C6-B7FD-A8F81B1858E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43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1520825"/>
            <a:ext cx="5220000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 sz="1800"/>
            </a:lvl1pPr>
            <a:lvl2pPr>
              <a:lnSpc>
                <a:spcPct val="112000"/>
              </a:lnSpc>
              <a:spcBef>
                <a:spcPts val="0"/>
              </a:spcBef>
              <a:defRPr sz="1800"/>
            </a:lvl2pPr>
            <a:lvl3pPr>
              <a:lnSpc>
                <a:spcPct val="112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816425" y="1520825"/>
            <a:ext cx="5188665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/>
            </a:lvl1pPr>
            <a:lvl2pPr>
              <a:lnSpc>
                <a:spcPct val="112000"/>
              </a:lnSpc>
              <a:spcBef>
                <a:spcPts val="0"/>
              </a:spcBef>
              <a:defRPr/>
            </a:lvl2pPr>
            <a:lvl3pPr>
              <a:lnSpc>
                <a:spcPct val="112000"/>
              </a:lnSpc>
              <a:spcBef>
                <a:spcPts val="0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A3E09-2410-496A-BB81-F15A07FAC31F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0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8EAC3D31-108A-4FE9-91B5-F944D4EE38A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6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Arial 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792149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+mj-lt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1208242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792149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B3B67-7491-4764-8971-75C7656DBFD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2C0031C7-9188-4972-9DD4-DD3C320BBBD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243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19201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955BD-54FA-4358-AB02-34607414E98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065F7AFB-E617-4306-8E77-B348F91DE56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43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1D003-432A-4126-9774-8DE8781ABB33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3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6339FEA-45E0-4CEE-87DD-55B9FB70659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97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55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rei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idx="1"/>
          </p:nvPr>
        </p:nvSpPr>
        <p:spPr>
          <a:xfrm>
            <a:off x="1206000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idx="14"/>
          </p:nvPr>
        </p:nvSpPr>
        <p:spPr>
          <a:xfrm>
            <a:off x="4893213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5" name="Textplatzhalter 2"/>
          <p:cNvSpPr>
            <a:spLocks noGrp="1"/>
          </p:cNvSpPr>
          <p:nvPr>
            <p:ph type="body" idx="15"/>
          </p:nvPr>
        </p:nvSpPr>
        <p:spPr>
          <a:xfrm>
            <a:off x="4893213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16"/>
          </p:nvPr>
        </p:nvSpPr>
        <p:spPr>
          <a:xfrm>
            <a:off x="8556149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2"/>
          <p:cNvSpPr>
            <a:spLocks noGrp="1"/>
          </p:cNvSpPr>
          <p:nvPr>
            <p:ph type="body" idx="17"/>
          </p:nvPr>
        </p:nvSpPr>
        <p:spPr>
          <a:xfrm>
            <a:off x="8564241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20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F9D63-7010-4FAA-BE3B-4CB189B9794C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DECBAF-54BF-43CB-A029-D1DF8A041DD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012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hs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2"/>
          <p:cNvSpPr>
            <a:spLocks noGrp="1"/>
          </p:cNvSpPr>
          <p:nvPr>
            <p:ph type="body" idx="27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idx="1"/>
          </p:nvPr>
        </p:nvSpPr>
        <p:spPr>
          <a:xfrm>
            <a:off x="1206000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2" name="Textplatzhalter 2"/>
          <p:cNvSpPr>
            <a:spLocks noGrp="1"/>
          </p:cNvSpPr>
          <p:nvPr>
            <p:ph type="body" idx="13"/>
          </p:nvPr>
        </p:nvSpPr>
        <p:spPr>
          <a:xfrm>
            <a:off x="1206000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idx="14"/>
          </p:nvPr>
        </p:nvSpPr>
        <p:spPr>
          <a:xfrm>
            <a:off x="4893213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4" name="Textplatzhalter 2"/>
          <p:cNvSpPr>
            <a:spLocks noGrp="1"/>
          </p:cNvSpPr>
          <p:nvPr>
            <p:ph type="body" idx="15"/>
          </p:nvPr>
        </p:nvSpPr>
        <p:spPr>
          <a:xfrm>
            <a:off x="4893213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idx="16"/>
          </p:nvPr>
        </p:nvSpPr>
        <p:spPr>
          <a:xfrm>
            <a:off x="8564241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6" name="Textplatzhalter 2"/>
          <p:cNvSpPr>
            <a:spLocks noGrp="1"/>
          </p:cNvSpPr>
          <p:nvPr>
            <p:ph type="body" idx="17"/>
          </p:nvPr>
        </p:nvSpPr>
        <p:spPr>
          <a:xfrm>
            <a:off x="8564241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idx="28"/>
          </p:nvPr>
        </p:nvSpPr>
        <p:spPr>
          <a:xfrm>
            <a:off x="1206000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29"/>
          </p:nvPr>
        </p:nvSpPr>
        <p:spPr>
          <a:xfrm>
            <a:off x="1206000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idx="30"/>
          </p:nvPr>
        </p:nvSpPr>
        <p:spPr>
          <a:xfrm>
            <a:off x="4890512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0" name="Textplatzhalter 2"/>
          <p:cNvSpPr>
            <a:spLocks noGrp="1"/>
          </p:cNvSpPr>
          <p:nvPr>
            <p:ph type="body" idx="31"/>
          </p:nvPr>
        </p:nvSpPr>
        <p:spPr>
          <a:xfrm>
            <a:off x="4890512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idx="32"/>
          </p:nvPr>
        </p:nvSpPr>
        <p:spPr>
          <a:xfrm>
            <a:off x="8558124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2" name="Textplatzhalter 2"/>
          <p:cNvSpPr>
            <a:spLocks noGrp="1"/>
          </p:cNvSpPr>
          <p:nvPr>
            <p:ph type="body" idx="33"/>
          </p:nvPr>
        </p:nvSpPr>
        <p:spPr>
          <a:xfrm>
            <a:off x="8558124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Datumsplatzhalter 3"/>
          <p:cNvSpPr>
            <a:spLocks noGrp="1"/>
          </p:cNvSpPr>
          <p:nvPr>
            <p:ph type="dt" sz="half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DA79B-A835-414C-9EF3-36DAC407AD4E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6" name="Foliennummernplatzhalter 4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68BD526D-A506-4272-90FB-C6A2218A9A7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5363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1204913" y="520700"/>
            <a:ext cx="10799762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Überschrift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206500" y="1547813"/>
            <a:ext cx="107997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</p:txBody>
      </p:sp>
      <p:pic>
        <p:nvPicPr>
          <p:cNvPr id="1028" name="Bild 7" descr="Logo_17pt.wmf"/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20" y="6000750"/>
            <a:ext cx="1223467" cy="71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0" name="Gruppierung 11"/>
          <p:cNvGrpSpPr>
            <a:grpSpLocks/>
          </p:cNvGrpSpPr>
          <p:nvPr/>
        </p:nvGrpSpPr>
        <p:grpSpPr bwMode="auto">
          <a:xfrm>
            <a:off x="1204913" y="0"/>
            <a:ext cx="10991850" cy="71438"/>
            <a:chOff x="903819" y="0"/>
            <a:chExt cx="8244000" cy="108000"/>
          </a:xfrm>
        </p:grpSpPr>
        <p:sp>
          <p:nvSpPr>
            <p:cNvPr id="13" name="Rechteck 12"/>
            <p:cNvSpPr/>
            <p:nvPr/>
          </p:nvSpPr>
          <p:spPr bwMode="auto">
            <a:xfrm>
              <a:off x="903819" y="0"/>
              <a:ext cx="2736094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4" name="Rechteck 13"/>
            <p:cNvSpPr/>
            <p:nvPr/>
          </p:nvSpPr>
          <p:spPr bwMode="auto">
            <a:xfrm>
              <a:off x="3639913" y="0"/>
              <a:ext cx="2736094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5" name="Rechteck 14"/>
            <p:cNvSpPr/>
            <p:nvPr/>
          </p:nvSpPr>
          <p:spPr bwMode="auto">
            <a:xfrm>
              <a:off x="6376006" y="0"/>
              <a:ext cx="2771813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cxnSp>
        <p:nvCxnSpPr>
          <p:cNvPr id="16" name="Gerade Verbindung 15"/>
          <p:cNvCxnSpPr/>
          <p:nvPr/>
        </p:nvCxnSpPr>
        <p:spPr>
          <a:xfrm>
            <a:off x="1206500" y="5951538"/>
            <a:ext cx="10987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atumsplatzhalter 3"/>
          <p:cNvSpPr>
            <a:spLocks noGrp="1"/>
          </p:cNvSpPr>
          <p:nvPr>
            <p:ph type="dt" sz="half" idx="2"/>
          </p:nvPr>
        </p:nvSpPr>
        <p:spPr>
          <a:xfrm>
            <a:off x="1206500" y="6011863"/>
            <a:ext cx="1295400" cy="17938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1170B00-7008-4535-A03C-5ED584CA80EB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1206500" y="6361113"/>
            <a:ext cx="1295400" cy="21431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de-DE"/>
              <a:t>Seite </a:t>
            </a:r>
            <a:fld id="{297CD77D-B4CD-4177-B2B6-FFDA7A317B1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9" name="Fußzeilenplatzhalter 3">
            <a:extLst>
              <a:ext uri="{FF2B5EF4-FFF2-40B4-BE49-F238E27FC236}">
                <a16:creationId xmlns:a16="http://schemas.microsoft.com/office/drawing/2014/main" id="{393FBCB6-964B-4911-B2D6-F34720DDF262}"/>
              </a:ext>
            </a:extLst>
          </p:cNvPr>
          <p:cNvSpPr txBox="1">
            <a:spLocks/>
          </p:cNvSpPr>
          <p:nvPr userDrawn="1"/>
        </p:nvSpPr>
        <p:spPr>
          <a:xfrm>
            <a:off x="2663031" y="6011863"/>
            <a:ext cx="3941763" cy="549275"/>
          </a:xfrm>
          <a:prstGeom prst="rect">
            <a:avLst/>
          </a:prstGeom>
        </p:spPr>
        <p:txBody>
          <a:bodyPr wrap="none"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  <a:defRPr/>
            </a:pPr>
            <a:endParaRPr lang="de-DE" sz="900" b="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25" r:id="rId8"/>
    <p:sldLayoutId id="2147483714" r:id="rId9"/>
    <p:sldLayoutId id="2147483715" r:id="rId10"/>
  </p:sldLayoutIdLst>
  <p:hf hdr="0" ftr="0"/>
  <p:txStyles>
    <p:titleStyle>
      <a:lvl1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2600" b="1" kern="1200">
          <a:solidFill>
            <a:schemeClr val="tx1"/>
          </a:solidFill>
          <a:latin typeface="Arial"/>
          <a:ea typeface="+mj-ea"/>
          <a:cs typeface="+mj-cs"/>
        </a:defRPr>
      </a:lvl1pPr>
      <a:lvl2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2pPr>
      <a:lvl3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3pPr>
      <a:lvl4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4pPr>
      <a:lvl5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5pPr>
      <a:lvl6pPr marL="4572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6pPr>
      <a:lvl7pPr marL="9144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7pPr>
      <a:lvl8pPr marL="13716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8pPr>
      <a:lvl9pPr marL="18288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9pPr>
    </p:titleStyle>
    <p:bodyStyle>
      <a:lvl1pPr algn="l" defTabSz="457200" rtl="0" eaLnBrk="1" fontAlgn="base" hangingPunct="1">
        <a:lnSpc>
          <a:spcPct val="112000"/>
        </a:lnSpc>
        <a:spcBef>
          <a:spcPct val="0"/>
        </a:spcBef>
        <a:spcAft>
          <a:spcPts val="600"/>
        </a:spcAft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357188" indent="-171450" algn="l" defTabSz="457200" rtl="0" eaLnBrk="1" fontAlgn="base" hangingPunct="1">
        <a:lnSpc>
          <a:spcPct val="112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5738" algn="l" defTabSz="457200" rtl="0" eaLnBrk="1" fontAlgn="base" hangingPunct="1">
        <a:lnSpc>
          <a:spcPct val="112000"/>
        </a:lnSpc>
        <a:spcBef>
          <a:spcPts val="4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714375" indent="-171450" algn="l" defTabSz="457200" rtl="0" eaLnBrk="1" fontAlgn="base" hangingPunct="1">
        <a:lnSpc>
          <a:spcPct val="112000"/>
        </a:lnSpc>
        <a:spcBef>
          <a:spcPts val="500"/>
        </a:spcBef>
        <a:spcAft>
          <a:spcPct val="0"/>
        </a:spcAft>
        <a:buClr>
          <a:srgbClr val="9D167A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074738" indent="-177800" algn="l" defTabSz="457200" rtl="0" eaLnBrk="1" fontAlgn="base" hangingPunct="1">
        <a:lnSpc>
          <a:spcPts val="1600"/>
        </a:lnSpc>
        <a:spcBef>
          <a:spcPts val="500"/>
        </a:spcBef>
        <a:spcAft>
          <a:spcPct val="0"/>
        </a:spcAft>
        <a:buFont typeface="Symbol" pitchFamily="18" charset="2"/>
        <a:buChar char="-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2.svg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Foliennummernplatzhalter 7"/>
          <p:cNvSpPr>
            <a:spLocks noGrp="1"/>
          </p:cNvSpPr>
          <p:nvPr>
            <p:ph type="sldNum" sz="quarter" idx="17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/>
              <a:t>Seite </a:t>
            </a:r>
            <a:fld id="{5900BCAD-2E4D-452E-971A-E255ED365B22}" type="slidenum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de-DE" altLang="de-DE"/>
          </a:p>
        </p:txBody>
      </p:sp>
      <p:sp>
        <p:nvSpPr>
          <p:cNvPr id="5126" name="Datumsplatzhalter 1"/>
          <p:cNvSpPr>
            <a:spLocks noGrp="1"/>
          </p:cNvSpPr>
          <p:nvPr>
            <p:ph type="dt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990076B-F39E-40B9-97AC-FE94D5699198}" type="datetime1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15.06.26</a:t>
            </a:fld>
            <a:endParaRPr lang="de-DE" alt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4B6DE49-2655-A87C-016C-7591C49E3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78" y="1046061"/>
            <a:ext cx="10800000" cy="1465823"/>
          </a:xfrm>
        </p:spPr>
        <p:txBody>
          <a:bodyPr/>
          <a:lstStyle/>
          <a:p>
            <a:r>
              <a:rPr lang="de-DE" dirty="0"/>
              <a:t>Automatisierte datengetriebene Analyse der</a:t>
            </a:r>
            <a:br>
              <a:rPr lang="de-DE" dirty="0"/>
            </a:br>
            <a:r>
              <a:rPr lang="de-DE" dirty="0"/>
              <a:t>Renditeperformance basierend auf dem Peter-</a:t>
            </a:r>
            <a:br>
              <a:rPr lang="de-DE" dirty="0"/>
            </a:br>
            <a:r>
              <a:rPr lang="de-DE" dirty="0"/>
              <a:t>Lynch-Ansatz</a:t>
            </a:r>
            <a:br>
              <a:rPr lang="de-DE" altLang="de-DE" sz="2800" dirty="0">
                <a:latin typeface="Arial" pitchFamily="34" charset="0"/>
              </a:rPr>
            </a:b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0728FFE-2FAD-95C4-CBF5-680681C1BA2D}"/>
              </a:ext>
            </a:extLst>
          </p:cNvPr>
          <p:cNvSpPr txBox="1"/>
          <p:nvPr/>
        </p:nvSpPr>
        <p:spPr>
          <a:xfrm>
            <a:off x="1206500" y="2798107"/>
            <a:ext cx="57842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vorgelegt von</a:t>
            </a:r>
            <a:r>
              <a:rPr lang="de-DE" altLang="de-DE" sz="2000" dirty="0"/>
              <a:t>: Carlo Sebastian Beck</a:t>
            </a:r>
            <a:endParaRPr lang="de-DE" sz="2000" dirty="0"/>
          </a:p>
          <a:p>
            <a:r>
              <a:rPr lang="de-DE" sz="2000" dirty="0"/>
              <a:t>Matrikel-Nr.: 11161132</a:t>
            </a:r>
          </a:p>
          <a:p>
            <a:r>
              <a:rPr lang="de-DE" sz="2000" dirty="0"/>
              <a:t>Studiengang: Wirtschaftsinformatik</a:t>
            </a:r>
          </a:p>
          <a:p>
            <a:endParaRPr lang="de-DE" sz="2000" dirty="0"/>
          </a:p>
          <a:p>
            <a:r>
              <a:rPr lang="de-DE" sz="2000" dirty="0"/>
              <a:t>eingereicht bei: Prof. Dr. Johann Schaible</a:t>
            </a:r>
          </a:p>
          <a:p>
            <a:r>
              <a:rPr lang="de-DE" sz="2000" dirty="0"/>
              <a:t>Zweitgutachter*in: Prof. Dr. Gernot Heisenberg</a:t>
            </a:r>
          </a:p>
          <a:p>
            <a:endParaRPr lang="de-DE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61CE12-C006-4BC2-AC19-1B2889E9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425" y="403674"/>
            <a:ext cx="10799762" cy="900113"/>
          </a:xfrm>
        </p:spPr>
        <p:txBody>
          <a:bodyPr/>
          <a:lstStyle/>
          <a:p>
            <a:pPr algn="ctr"/>
            <a:r>
              <a:rPr lang="de-DE" sz="3000" dirty="0"/>
              <a:t>Motivation &amp; Forschungsfragen</a:t>
            </a:r>
            <a:endParaRPr lang="en-DE" sz="300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0DA9AA-9003-414A-B33E-90633BA255E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C73487-6ADA-4FD4-974D-2422BF3280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7CAA8BD0-E8FD-2598-5251-6B9347255AB5}"/>
              </a:ext>
            </a:extLst>
          </p:cNvPr>
          <p:cNvGrpSpPr/>
          <p:nvPr/>
        </p:nvGrpSpPr>
        <p:grpSpPr>
          <a:xfrm>
            <a:off x="8482182" y="988914"/>
            <a:ext cx="3188475" cy="3887704"/>
            <a:chOff x="8308877" y="1168842"/>
            <a:chExt cx="3188475" cy="3887704"/>
          </a:xfrm>
        </p:grpSpPr>
        <p:sp>
          <p:nvSpPr>
            <p:cNvPr id="15" name="Abgerundetes Rechteck 14">
              <a:extLst>
                <a:ext uri="{FF2B5EF4-FFF2-40B4-BE49-F238E27FC236}">
                  <a16:creationId xmlns:a16="http://schemas.microsoft.com/office/drawing/2014/main" id="{554DD3AE-A7A3-911C-DDAA-9B58AA0126AD}"/>
                </a:ext>
              </a:extLst>
            </p:cNvPr>
            <p:cNvSpPr/>
            <p:nvPr/>
          </p:nvSpPr>
          <p:spPr>
            <a:xfrm>
              <a:off x="8308879" y="1184261"/>
              <a:ext cx="3188473" cy="3872285"/>
            </a:xfrm>
            <a:prstGeom prst="roundRect">
              <a:avLst>
                <a:gd name="adj" fmla="val 2951"/>
              </a:avLst>
            </a:prstGeom>
            <a:solidFill>
              <a:schemeClr val="bg1"/>
            </a:solidFill>
            <a:ln w="6350">
              <a:solidFill>
                <a:schemeClr val="tx2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pPr marL="311150" indent="-301625"/>
              <a:r>
                <a:rPr lang="de-DE" sz="1400" b="1" dirty="0"/>
                <a:t>F1: </a:t>
              </a:r>
              <a:r>
                <a:rPr lang="de-DE" sz="1400" dirty="0"/>
                <a:t>Wie praktikabel und reproduzierbar ist die Umsetzung?</a:t>
              </a:r>
            </a:p>
            <a:p>
              <a:endParaRPr lang="de-DE" sz="1400" dirty="0"/>
            </a:p>
            <a:p>
              <a:pPr marL="311150" indent="-311150"/>
              <a:r>
                <a:rPr lang="de-DE" sz="1400" b="1" dirty="0"/>
                <a:t>F2: </a:t>
              </a:r>
              <a:r>
                <a:rPr lang="de-DE" sz="1400" dirty="0"/>
                <a:t>Wie entwickelt sich die Performance gegenüber Referenzstrategien?</a:t>
              </a:r>
            </a:p>
            <a:p>
              <a:endParaRPr lang="de-DE" sz="1400" dirty="0"/>
            </a:p>
            <a:p>
              <a:pPr marL="311150" indent="-301625"/>
              <a:r>
                <a:rPr lang="de-DE" sz="1400" b="1" dirty="0"/>
                <a:t>F3: </a:t>
              </a:r>
              <a:r>
                <a:rPr lang="de-DE" sz="1400" dirty="0"/>
                <a:t>Welchen Einfluss haben Steuern und Umschichtungen?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98940C73-04A8-D12F-9BF6-08FD4A009091}"/>
                </a:ext>
              </a:extLst>
            </p:cNvPr>
            <p:cNvSpPr/>
            <p:nvPr/>
          </p:nvSpPr>
          <p:spPr>
            <a:xfrm>
              <a:off x="8308877" y="1168842"/>
              <a:ext cx="3188473" cy="368915"/>
            </a:xfrm>
            <a:prstGeom prst="rect">
              <a:avLst/>
            </a:prstGeom>
            <a:solidFill>
              <a:schemeClr val="accent3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de-DE" dirty="0"/>
            </a:p>
          </p:txBody>
        </p: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06F98FD3-93AB-D1B0-3998-7C003837EBD4}"/>
                </a:ext>
              </a:extLst>
            </p:cNvPr>
            <p:cNvGrpSpPr/>
            <p:nvPr/>
          </p:nvGrpSpPr>
          <p:grpSpPr>
            <a:xfrm>
              <a:off x="9479605" y="1647815"/>
              <a:ext cx="841389" cy="702516"/>
              <a:chOff x="7156935" y="88986"/>
              <a:chExt cx="821597" cy="772797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F8CD741-23B2-79A1-6A46-78FF5CD73B6B}"/>
                  </a:ext>
                </a:extLst>
              </p:cNvPr>
              <p:cNvSpPr/>
              <p:nvPr/>
            </p:nvSpPr>
            <p:spPr>
              <a:xfrm>
                <a:off x="7156935" y="88986"/>
                <a:ext cx="821597" cy="77279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4" name="Grafik 33" descr="Lupe Silhouette">
                <a:extLst>
                  <a:ext uri="{FF2B5EF4-FFF2-40B4-BE49-F238E27FC236}">
                    <a16:creationId xmlns:a16="http://schemas.microsoft.com/office/drawing/2014/main" id="{54E04A89-D5EA-9410-B3C3-AF3A130664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244477" y="123846"/>
                <a:ext cx="646514" cy="646514"/>
              </a:xfrm>
              <a:prstGeom prst="rect">
                <a:avLst/>
              </a:prstGeom>
            </p:spPr>
          </p:pic>
        </p:grp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EA989541-EEEF-B831-164E-91143C11ACC1}"/>
                </a:ext>
              </a:extLst>
            </p:cNvPr>
            <p:cNvSpPr txBox="1"/>
            <p:nvPr/>
          </p:nvSpPr>
          <p:spPr>
            <a:xfrm rot="10800000" flipV="1">
              <a:off x="8845440" y="2375273"/>
              <a:ext cx="22863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chemeClr val="accent3"/>
                  </a:solidFill>
                </a:rPr>
                <a:t>Forschungsfrage</a:t>
              </a:r>
            </a:p>
            <a:p>
              <a:endParaRPr lang="de-DE" sz="2000" dirty="0" err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3" name="Gerade Verbindung 52">
              <a:extLst>
                <a:ext uri="{FF2B5EF4-FFF2-40B4-BE49-F238E27FC236}">
                  <a16:creationId xmlns:a16="http://schemas.microsoft.com/office/drawing/2014/main" id="{0BDE0BD7-B7A5-1FBB-2D72-E93AE66E31D7}"/>
                </a:ext>
              </a:extLst>
            </p:cNvPr>
            <p:cNvCxnSpPr/>
            <p:nvPr/>
          </p:nvCxnSpPr>
          <p:spPr>
            <a:xfrm>
              <a:off x="8563896" y="2782530"/>
              <a:ext cx="2487562" cy="0"/>
            </a:xfrm>
            <a:prstGeom prst="line">
              <a:avLst/>
            </a:prstGeom>
            <a:ln w="12700">
              <a:solidFill>
                <a:schemeClr val="bg2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Abgerundetes Rechteck 58">
            <a:extLst>
              <a:ext uri="{FF2B5EF4-FFF2-40B4-BE49-F238E27FC236}">
                <a16:creationId xmlns:a16="http://schemas.microsoft.com/office/drawing/2014/main" id="{E28337B9-BA34-6985-811C-D7ADCA9800E8}"/>
              </a:ext>
            </a:extLst>
          </p:cNvPr>
          <p:cNvSpPr/>
          <p:nvPr/>
        </p:nvSpPr>
        <p:spPr>
          <a:xfrm>
            <a:off x="2612803" y="5023081"/>
            <a:ext cx="7089058" cy="77126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b="1" dirty="0"/>
              <a:t>Ziel der Arbeit: </a:t>
            </a:r>
          </a:p>
          <a:p>
            <a:pPr algn="ctr"/>
            <a:r>
              <a:rPr lang="de-DE" sz="1400" dirty="0"/>
              <a:t>Die Entwicklung einer datengetriebenen Analyseumgebung zur standardisierten Lynch-Klassifikation und Portfoliobewertung.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D2A40BA4-0C83-01B4-7E9D-0C378637FD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6618504"/>
              </p:ext>
            </p:extLst>
          </p:nvPr>
        </p:nvGraphicFramePr>
        <p:xfrm>
          <a:off x="221336" y="936841"/>
          <a:ext cx="8120074" cy="3932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875709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14.4|26.3"/>
</p:tagLst>
</file>

<file path=ppt/theme/theme1.xml><?xml version="1.0" encoding="utf-8"?>
<a:theme xmlns:a="http://schemas.openxmlformats.org/drawingml/2006/main" name="Masterfolie_16_9neu">
  <a:themeElements>
    <a:clrScheme name="TH Köln Spektrum">
      <a:dk1>
        <a:srgbClr val="000000"/>
      </a:dk1>
      <a:lt1>
        <a:srgbClr val="FFFFFF"/>
      </a:lt1>
      <a:dk2>
        <a:srgbClr val="808080"/>
      </a:dk2>
      <a:lt2>
        <a:srgbClr val="BFBFBF"/>
      </a:lt2>
      <a:accent1>
        <a:srgbClr val="C00009"/>
      </a:accent1>
      <a:accent2>
        <a:srgbClr val="E24300"/>
      </a:accent2>
      <a:accent3>
        <a:srgbClr val="9D167A"/>
      </a:accent3>
      <a:accent4>
        <a:srgbClr val="00CC00"/>
      </a:accent4>
      <a:accent5>
        <a:srgbClr val="FFFF00"/>
      </a:accent5>
      <a:accent6>
        <a:srgbClr val="259EFF"/>
      </a:accent6>
      <a:hlink>
        <a:srgbClr val="005294"/>
      </a:hlink>
      <a:folHlink>
        <a:srgbClr val="6783B4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 w="12700">
          <a:solidFill>
            <a:schemeClr val="tx1"/>
          </a:solidFill>
          <a:tailEnd type="triangle" w="med" len="lg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k_ln_pptvorlage_16_9_Feb2016_V1.potx" id="{A576FD44-4E46-4723-9FCD-6DC9777E0436}" vid="{1A564047-D60B-4EFF-AAEA-89036AD4D3C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masterfolien_16_9 (1)</Template>
  <TotalTime>0</TotalTime>
  <Words>99</Words>
  <Application>Microsoft Macintosh PowerPoint</Application>
  <PresentationFormat>Breitbild</PresentationFormat>
  <Paragraphs>27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Arial </vt:lpstr>
      <vt:lpstr>Calibri</vt:lpstr>
      <vt:lpstr>Symbol</vt:lpstr>
      <vt:lpstr>Wingdings</vt:lpstr>
      <vt:lpstr>Masterfolie_16_9neu</vt:lpstr>
      <vt:lpstr>Automatisierte datengetriebene Analyse der Renditeperformance basierend auf dem Peter- Lynch-Ansatz </vt:lpstr>
      <vt:lpstr>Motivation &amp; Forschungsfragen</vt:lpstr>
    </vt:vector>
  </TitlesOfParts>
  <Company>FH Köln Campus-IT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Masterfolie</dc:title>
  <dc:creator>Carsten Knaut</dc:creator>
  <cp:lastModifiedBy>Carlo Sebastian Beck (cbeck1)</cp:lastModifiedBy>
  <cp:revision>70</cp:revision>
  <cp:lastPrinted>2016-02-26T07:58:29Z</cp:lastPrinted>
  <dcterms:created xsi:type="dcterms:W3CDTF">2020-03-18T11:04:37Z</dcterms:created>
  <dcterms:modified xsi:type="dcterms:W3CDTF">2026-06-15T17:47:33Z</dcterms:modified>
</cp:coreProperties>
</file>